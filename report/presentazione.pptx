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PUT (ms)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N=3</c:v>
                  </c:pt>
                  <c:pt idx="1">
                    <c:v>N=5</c:v>
                  </c:pt>
                  <c:pt idx="2">
                    <c:v>N=9</c:v>
                  </c:pt>
                  <c:pt idx="3">
                    <c:v>N=20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9.35</c:v>
                </c:pt>
                <c:pt idx="1">
                  <c:v>9.2</c:v>
                </c:pt>
                <c:pt idx="2">
                  <c:v>9.31</c:v>
                </c:pt>
                <c:pt idx="3">
                  <c:v>15.16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GET (ms)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N=3</c:v>
                  </c:pt>
                  <c:pt idx="1">
                    <c:v>N=5</c:v>
                  </c:pt>
                  <c:pt idx="2">
                    <c:v>N=9</c:v>
                  </c:pt>
                  <c:pt idx="3">
                    <c:v>N=20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3.28</c:v>
                </c:pt>
                <c:pt idx="2">
                  <c:v>3.09</c:v>
                </c:pt>
                <c:pt idx="3">
                  <c:v>3.21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4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Grazie per l'attenzione. Passiamo ora alla demo dal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320040" cy="320040"/>
          </a:xfrm>
          <a:prstGeom prst="ellipse">
            <a:avLst/>
          </a:prstGeom>
          <a:solidFill>
            <a:srgbClr val="2EC4B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188720"/>
            <a:ext cx="320040" cy="320040"/>
          </a:xfrm>
          <a:prstGeom prst="ellipse">
            <a:avLst/>
          </a:prstGeom>
          <a:solidFill>
            <a:srgbClr val="2EC4B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1737360"/>
            <a:ext cx="320040" cy="320040"/>
          </a:xfrm>
          <a:prstGeom prst="ellipse">
            <a:avLst/>
          </a:prstGeom>
          <a:solidFill>
            <a:srgbClr val="2EC4B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48640"/>
            <a:ext cx="320040" cy="320040"/>
          </a:xfrm>
          <a:prstGeom prst="ellipse">
            <a:avLst/>
          </a:prstGeom>
          <a:solidFill>
            <a:srgbClr val="2EC4B6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29800" y="777240"/>
            <a:ext cx="1051560" cy="411480"/>
          </a:xfrm>
          <a:prstGeom prst="line">
            <a:avLst/>
          </a:prstGeom>
          <a:noFill/>
          <a:ln w="12700">
            <a:solidFill>
              <a:srgbClr val="2EC4B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1325880"/>
            <a:ext cx="777240" cy="411480"/>
          </a:xfrm>
          <a:prstGeom prst="line">
            <a:avLst/>
          </a:prstGeom>
          <a:noFill/>
          <a:ln w="12700">
            <a:solidFill>
              <a:srgbClr val="2EC4B6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B5 · SISTEMI DISTRIBUITI E CLOUD COMPUTING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Key-Value Store Distribuito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basato su Raft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distribuito, replicazione del log, e tolleranza ai guasti — implementati da zero in Go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Cola  ·  Università degli Studi di Roma "Tor Vergata"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garantire consistenza forte tra repliche, senza un singolo punto di fallimento?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 database centrale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334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replicato su più nodi; un solo punto di fallimento è inaccettabile per un sistema distribuito.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657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Consenso distribuito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507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repliche devono concordare sulla stessa sequenza di operazioni, anche con crash o ritardi di rete.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Raft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468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Stesse garanzie di correttezza di Paxos, ma scomposto in sotto-problemi comprensibili: elezione, replica, sicurezza.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Architettura: tre tipi di nodo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 Go indipendenti, che comunicano esclusivamente via gRPC e Protocol Buffers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106" y="24711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Node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148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Eseguono Raft: elezione del leader, replica del log, state machine chiave-valore.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2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63540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706" y="247116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8912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Proxy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3703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41148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Instrada le richieste dei client verso il Leader corrente, scoprendolo dinamicamente.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638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2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21140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306" y="247116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4672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 &amp; Backup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046720" y="3703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183880" y="41148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 periodicamente lo stato applicativo e lo scrive su un checkpoint esterno.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pattern architetturali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28358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279" y="2323719"/>
            <a:ext cx="427482" cy="4274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Discovery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49040"/>
            <a:ext cx="4343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indirizzo fisso del Leader: proxy e snapshot service interrogano periodicamente i nodi (RPC GetStatus) e mantengono una vista sempre aggiornata di chi comanda.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173736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283583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399" y="232371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749040"/>
            <a:ext cx="4343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stati (closed / open / half-open) per ogni nodo: isola rapidamente un nodo caduto, evitando di aspettare inutilmente il timeout di rete a ogni tentativo.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Raft: le garanzie di correttezza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Contatore logico crescente: al più un Leader per term. Un term più recente prevale sempre.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Election restriction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423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candidato ottiene un voto solo se il suo log è aggiornato almeno quanto quello di chi vota.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commit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474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Un'entry è committata, e applicabile, solo dopo essere replicata sulla maggioranza dei nodi.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Regola §5.4.2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26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leader committa per conteggio di maggioranza solo le entry del proprio term corrente — osservata dal vivo su AWS EC2.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containerizzato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922526"/>
            <a:ext cx="452628" cy="4526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2402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Dockerfile generico multi-stadio, parametrizzato via build-arg. 7 servizi orchestrati (5 nodi, proxy, snapshot), stesso codice, config diverse.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737360"/>
            <a:ext cx="822960" cy="822960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526" y="1922526"/>
            <a:ext cx="452628" cy="4526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6092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EC2 reale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60920" y="22402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verificato su un'istanza reale (AWS Academy Learner Lab): container avviati, elezione del leader, chiamate riuscite dall'esterno.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05840" y="42519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"Containerizzare non ha richiesto nessuna modifica al codice applicativo"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005840" y="49834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 diretta di una scelta di design della prima fase: nessun valore hard-coded, tutto da configurazione esterna.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Risultati: scalabilità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 RPC su istanza AWS EC2, N = 3, 5, 9, 20 nodi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675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indipendente da 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286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 locale sul leader, nessuna replica: resta piatta a ~3ms su ogni N, come previsto dalla teoria.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52360" y="388620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sale solo a N=20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434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leader attende l'ack della maggioranza (11 su 20 follower): la coda per l'ack più lento cresce solo con quorum numerosi.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Risultati: fault-tolerance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del leader (kill -9), N=5, 10 trial indipendenti su AWS EC2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8358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192.7ms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Rielezione media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 153.7 · max 258.1)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8358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2423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244.0ms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337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 media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 205.5 · max 309.1)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28358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2423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337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con servizio ripristinato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convergenza completa dei superstiti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gap costante di ~50ms tra rielezione e convergenza corrisponde all'heartbeat interval configurato: il nuovo leader manda subito il primo AppendEntries.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RAGGIUNTI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0482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implementato da zero e verificato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614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7066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tipi di nodo, gRPC/Protobuf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+ Circuit Breaker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7822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8016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verificato su AWS EC2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3659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80160" y="46817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 e fault-tolerance misurate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NOTI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4884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995160" y="21031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cambio di membership dinamico</a:t>
            </a:r>
            <a:endParaRPr lang="en-US" sz="1350" dirty="0"/>
          </a:p>
        </p:txBody>
      </p:sp>
      <p:sp>
        <p:nvSpPr>
          <p:cNvPr id="19" name="Text 11"/>
          <p:cNvSpPr txBox="1"/>
          <p:nvPr/>
        </p:nvSpPr>
        <p:spPr>
          <a:xfrm>
            <a:off x="6995160" y="25328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può rientrare dopo un crash, non unirsi ex novo a runtime</a:t>
            </a:r>
            <a:endParaRPr lang="en-US" sz="11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38328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995160" y="33375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compattazione del log sui nodi</a:t>
            </a:r>
            <a:endParaRPr lang="en-US" sz="1350" dirty="0"/>
          </a:p>
        </p:txBody>
      </p:sp>
      <p:sp>
        <p:nvSpPr>
          <p:cNvPr id="22" name="Text 13"/>
          <p:cNvSpPr txBox="1"/>
          <p:nvPr/>
        </p:nvSpPr>
        <p:spPr>
          <a:xfrm>
            <a:off x="6995160" y="37673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snapshot compatta in checkpoint esterni, non tronca il log locale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6537960" y="5029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 di scope deliberate, non richieste dalla traccia — estensioni naturali per lavoro futuro.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2026-08-31T10:08:15Z</dcterms:created>
  <dcterms:modified xsi:type="dcterms:W3CDTF">2026-08-31T10:08:15Z</dcterms:modified>
</cp:coreProperties>
</file>